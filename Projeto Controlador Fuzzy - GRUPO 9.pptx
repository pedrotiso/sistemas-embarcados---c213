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EC5F7F-D277-4BD5-87F0-58BB78689506}">
  <a:tblStyle styleId="{B8EC5F7F-D277-4BD5-87F0-58BB7868950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b4ff88853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b4ff888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b4ff88853_0_1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b4ff8885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b4ff88853_0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b4ff8885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b4ff88853_0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b4ff8885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b4ff88853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b4ff8885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b4ff88853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b4ff8885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b4ff88853_0_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b4ff8885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b4ff88853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ab4ff8885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b4ff88853_0_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b4ff8885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b4ff88853_0_9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b4ff8885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b4ff88853_0_10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b4ff8885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b4ff88853_0_1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b4ff8885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4ff88853_0_1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b4ff8885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b4ff88853_0_1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b4ff88853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b4ff88853_0_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b4ff8885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5cf595314_0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5cf59531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4444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de Controle Fuzzy PD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93865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Grupo 9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Gabriel Lopes Silva - GEC - 2043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Lucas Caetano Reis - GEC - 1953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Pedro Tiso Vinhas Mesquita - GEC - 1932 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8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Controlar a potência do CRAC (PCRAC) de forma inteligente;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Manter T próximo do setpoint mesmo com: Variações térmicas internas, temperatura externa e oscilações rápidas no erro;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Criar um controlador não-linear, robusto e interpretável;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Simular e analisar o comportamento do sistema;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Criar uma interface gráfica interativa (IHM) para simular diferentes cenários por meio da variação dos parâmetros.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do Sistema - Fluxo Geral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8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4375" y="1695575"/>
            <a:ext cx="3261325" cy="344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Integração MQTT e Node-RED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71900" y="1919075"/>
            <a:ext cx="828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Para monitoramento em tempo real, o sistema publica os dados do controlador via MQTT, um protocolo leve e eficiente para IoT;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O servidor Node.js envia mensagens para o broker MQTT contendo</a:t>
            </a:r>
            <a:r>
              <a:rPr lang="pt-BR" sz="1800"/>
              <a:t>: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PCRAC calculado;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Erro (e), Δe, Text, Qest.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O Node-RED assina esses tópicos e exibe tudo em dashboards dinâmicos;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Permite inspeção visual da operação, debug e análises durante simulações.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Dashboard no Node-RED</a:t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875" y="2471513"/>
            <a:ext cx="3508501" cy="18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625" y="2372750"/>
            <a:ext cx="4699049" cy="208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Variáveis</a:t>
            </a:r>
            <a:r>
              <a:rPr lang="pt-BR"/>
              <a:t> de Entrada e Saída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71900" y="1919075"/>
            <a:ext cx="828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pt-BR" sz="1800"/>
              <a:t>Entradas:</a:t>
            </a:r>
            <a:endParaRPr b="1"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Erro(e): Diferença entre a temperatura atual(T) e o setpoint(Tset);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Δe: Variação do erro entre passos consecutivos;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Text: Temperatura fora do data center;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Qest: Quanto calor os equipamentos estão gerando.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b="1" lang="pt-BR" sz="1800"/>
              <a:t>Saída</a:t>
            </a:r>
            <a:r>
              <a:rPr b="1" lang="pt-BR" sz="1800"/>
              <a:t>:</a:t>
            </a:r>
            <a:endParaRPr b="1"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PCRAC: A potência de atuação do sistema de refrigeração (0–100%). OBS: O CRAC apenas resfria.</a:t>
            </a:r>
            <a:endParaRPr b="1"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Funções de Pertinência (Entrada)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471900" y="1919075"/>
            <a:ext cx="828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Variável: Erro(e)</a:t>
            </a:r>
            <a:endParaRPr sz="1800"/>
          </a:p>
        </p:txBody>
      </p:sp>
      <p:graphicFrame>
        <p:nvGraphicFramePr>
          <p:cNvPr id="107" name="Google Shape;107;p19"/>
          <p:cNvGraphicFramePr/>
          <p:nvPr/>
        </p:nvGraphicFramePr>
        <p:xfrm>
          <a:off x="13242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{B8EC5F7F-D277-4BD5-87F0-58BB78689506}</a:tableStyleId>
              </a:tblPr>
              <a:tblGrid>
                <a:gridCol w="393850"/>
                <a:gridCol w="2161100"/>
                <a:gridCol w="2443875"/>
              </a:tblGrid>
              <a:tr h="3299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Sigla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Significado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Explicação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Negativo Grande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Sistema muito abaixo do setpoint.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Negativo Pequeno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Abaixo do setpoint, mas não tanto.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ZO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Zero (Próximo do Zero)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Temperatura muito próxima do setpoint.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Positivo Pequeno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Acima do setpoint, mas pouco.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Positivo Grande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Muito acima do setpoint.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1500" y="2571750"/>
            <a:ext cx="3704250" cy="19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Funções de Pertinência (Entrada)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471900" y="1919075"/>
            <a:ext cx="828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Variável: </a:t>
            </a:r>
            <a:r>
              <a:rPr lang="pt-BR" sz="1800"/>
              <a:t>Δe</a:t>
            </a:r>
            <a:endParaRPr sz="1800"/>
          </a:p>
        </p:txBody>
      </p:sp>
      <p:graphicFrame>
        <p:nvGraphicFramePr>
          <p:cNvPr id="115" name="Google Shape;115;p20"/>
          <p:cNvGraphicFramePr/>
          <p:nvPr/>
        </p:nvGraphicFramePr>
        <p:xfrm>
          <a:off x="169963" y="243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{B8EC5F7F-D277-4BD5-87F0-58BB78689506}</a:tableStyleId>
              </a:tblPr>
              <a:tblGrid>
                <a:gridCol w="337650"/>
                <a:gridCol w="1236825"/>
                <a:gridCol w="3611775"/>
              </a:tblGrid>
              <a:tr h="381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Sigla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Significado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Explicação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Negativo Grande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Erro diminuindo rapidamente (temperatura caindo muito).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Negativo Pequeno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Erro diminuindo lentamente.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ZO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Zero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Erro praticamente estável.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Positivo Pequeno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Erro aumentando lentamente.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Positivo Grande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Erro aumentando rapidamente.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350" y="2432100"/>
            <a:ext cx="3472276" cy="228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Funções de Pertinência (Entrada)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471900" y="1919075"/>
            <a:ext cx="32520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Variável: Text (Temperatura Externa)</a:t>
            </a:r>
            <a:endParaRPr sz="1800"/>
          </a:p>
        </p:txBody>
      </p:sp>
      <p:graphicFrame>
        <p:nvGraphicFramePr>
          <p:cNvPr id="123" name="Google Shape;123;p21"/>
          <p:cNvGraphicFramePr/>
          <p:nvPr/>
        </p:nvGraphicFramePr>
        <p:xfrm>
          <a:off x="845350" y="269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{B8EC5F7F-D277-4BD5-87F0-58BB78689506}</a:tableStyleId>
              </a:tblPr>
              <a:tblGrid>
                <a:gridCol w="466725"/>
                <a:gridCol w="20383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Sigla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Significado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BAIXA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Temperatura externa baixa.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MÉDIA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Temperatura externa moderada.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ALTA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Temperatura externa elevada.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5255425" y="1919075"/>
            <a:ext cx="32520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Variável: Qest (Carga Térmica)</a:t>
            </a:r>
            <a:endParaRPr sz="1800"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925" y="3738250"/>
            <a:ext cx="3150000" cy="1377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21"/>
          <p:cNvGraphicFramePr/>
          <p:nvPr/>
        </p:nvGraphicFramePr>
        <p:xfrm>
          <a:off x="5141775" y="2688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{B8EC5F7F-D277-4BD5-87F0-58BB78689506}</a:tableStyleId>
              </a:tblPr>
              <a:tblGrid>
                <a:gridCol w="838200"/>
                <a:gridCol w="2857500"/>
              </a:tblGrid>
              <a:tr h="196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Sigla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Significado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3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BAIXA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Pouca carga térmica → poucos servidores ativos.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MÉDIA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Carga moderada.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ALTA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Alta carga térmica.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MUITO ALTA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Carga térmica crítica.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200" y="3877900"/>
            <a:ext cx="3355799" cy="123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Funções de Pertinência (Saída)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471900" y="1919075"/>
            <a:ext cx="828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Variável: </a:t>
            </a:r>
            <a:r>
              <a:rPr lang="pt-BR" sz="1800"/>
              <a:t>PCRAC</a:t>
            </a:r>
            <a:endParaRPr sz="1800"/>
          </a:p>
        </p:txBody>
      </p:sp>
      <p:graphicFrame>
        <p:nvGraphicFramePr>
          <p:cNvPr id="134" name="Google Shape;134;p22"/>
          <p:cNvGraphicFramePr/>
          <p:nvPr/>
        </p:nvGraphicFramePr>
        <p:xfrm>
          <a:off x="217325" y="264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{B8EC5F7F-D277-4BD5-87F0-58BB78689506}</a:tableStyleId>
              </a:tblPr>
              <a:tblGrid>
                <a:gridCol w="914400"/>
                <a:gridCol w="1932650"/>
                <a:gridCol w="16893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Sigla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Significado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/>
                        <a:t>Ação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MUITO BAIXA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Potência muito baixa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Quase desligado.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BAIXA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Potência baixa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Leve resfriamento.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MÉDIA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Potência média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Resfriamento moderado.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ALTA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Potência alta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Forte resfriamento.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MUITO ALTA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Potência máxima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/>
                        <a:t>Resfriamento total.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6725" y="1748725"/>
            <a:ext cx="1498989" cy="156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5611" y="3367569"/>
            <a:ext cx="3401234" cy="16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Base original de regras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471900" y="1919075"/>
            <a:ext cx="828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As solicitações originais vindas do arquivo de descrição do trabalho indicavam: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Controlador PD puro;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Considerando apenas erro e variação do erro;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Exemplos de regras: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“Erro muito negativo e esfriando =&gt; reduzir potência”.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“Erro próximo de zero =&gt; manter potência média”.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Regras aperfeiçoadas</a:t>
            </a:r>
            <a:endParaRPr/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471900" y="1919075"/>
            <a:ext cx="828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Melhorias: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Inclusão da temperatura externa e a carga térmica da sala;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Aumentamos a precisão do sistema de saída(5 níveis);</a:t>
            </a:r>
            <a:endParaRPr sz="1800"/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Modelamos alguns casos reais, como por exemplo: Equipamento sobrecarregado, Sala aquecendo/esfriando rápido, pico de servidores, etc.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Regras aperfeiçoadas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471900" y="1919075"/>
            <a:ext cx="828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Exemplos: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Se e &lt; 0 e Δe &lt; 0 → CRAC MÉDIA/ALTA;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Se e ≈ 0 e Δe ≈ 0 → CRAC MÉDIA;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Se e &gt; 0 e Δe &gt; 0 → CRAC MUITO BAIXA;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Se Text alta e Qest alta → reforço para CRAC ALTA;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Se Text baixa e Qest baixa → reforço para CRAC BAIXA;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Possíveis cenários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146025" y="1919075"/>
            <a:ext cx="4040100" cy="20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pt-BR"/>
              <a:t>Cenário 1 - Sistema Estável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e = 0, de = 0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Estado térmico estável (Text = 25°C e Qest = 40%)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Regra ativada: CRAC MÉDIA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PCRAC = 50%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Mantém temperatura sem oscilações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853" y="1736474"/>
            <a:ext cx="2120462" cy="982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3811" y="1716925"/>
            <a:ext cx="2120464" cy="1021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4850" y="2820854"/>
            <a:ext cx="2120465" cy="1021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0631" y="2840403"/>
            <a:ext cx="2043644" cy="982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59750" y="3877925"/>
            <a:ext cx="2441926" cy="11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Possíveis cenários</a:t>
            </a:r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146025" y="1919075"/>
            <a:ext cx="4040100" cy="20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pt-BR"/>
              <a:t>Cenário 2 - Aquecimento rápido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e = +8, de = +3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Estado térmico elevado (Text = 30°C e Qest = 80%)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Regras ativadas: CRAC ALTA / MUITO ALTA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PCRAC = 75%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Ação corretiva resfriando intensificamente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6450" y="1736475"/>
            <a:ext cx="2217269" cy="9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0625" y="1716925"/>
            <a:ext cx="2354275" cy="9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6450" y="2822149"/>
            <a:ext cx="2217275" cy="959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0625" y="2822150"/>
            <a:ext cx="2354275" cy="95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16523" y="3866500"/>
            <a:ext cx="2637275" cy="12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Possíveis cenários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146025" y="1919075"/>
            <a:ext cx="3780600" cy="204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pt-BR"/>
              <a:t>Cenário 3 - Resfriamento excessivo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e = -6, de = -4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Estado térmico baixo (Text = 15°C e Qest = 20%)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Regras ativadas: CRAC MUITO BAIXA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PCRAC = 7%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 sz="1400"/>
              <a:t>Redução de potência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6625" y="1716925"/>
            <a:ext cx="2282255" cy="9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1750" y="1716925"/>
            <a:ext cx="2282250" cy="989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6625" y="2749675"/>
            <a:ext cx="2282250" cy="10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1750" y="2749675"/>
            <a:ext cx="2282250" cy="103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84073" y="3887873"/>
            <a:ext cx="2466275" cy="120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471900" y="1919075"/>
            <a:ext cx="828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O projeto entregou um controlador Fuzzy PD funcional e robusto, capaz de ajustar a potência do CRAC considerando erro, variação do erro, temperatura externa e carga térmica. As regras aprimoradas garantiram respostas coerentes para diferentes cenários térmicos, refletindo situações reais de operação em data centers.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A integração via MQTT + Node-RED permitiu monitoramento em tempo real e validação clara do comportamento do sistema.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pt-BR" sz="1800"/>
              <a:t>Assim, obtivemos um controlador estável, interpretável e alinhado às exigências práticas de climatização inteligente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/>
          </a:p>
          <a:p>
            <a:pPr indent="0" lvl="0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